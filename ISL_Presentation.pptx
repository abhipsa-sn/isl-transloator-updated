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BDF8"/>
    <a:srgbClr val="2E89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6122CD-6006-4C6C-B840-C1FC3336CD3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8B7668-0F34-4834-BFF5-2E2FCCD80A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437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8B7668-0F34-4834-BFF5-2E2FCCD80A5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227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A3261D-2728-2D3E-8551-7E991E608C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8401" y="1603978"/>
            <a:ext cx="1807334" cy="1825022"/>
          </a:xfrm>
          <a:prstGeom prst="ellipse">
            <a:avLst/>
          </a:prstGeom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64F12E7-67E8-C569-6B5C-78A11E65A642}"/>
              </a:ext>
            </a:extLst>
          </p:cNvPr>
          <p:cNvSpPr/>
          <p:nvPr/>
        </p:nvSpPr>
        <p:spPr>
          <a:xfrm>
            <a:off x="609600" y="169333"/>
            <a:ext cx="10795000" cy="2015067"/>
          </a:xfrm>
          <a:custGeom>
            <a:avLst/>
            <a:gdLst>
              <a:gd name="csX0" fmla="*/ 335851 w 10795000"/>
              <a:gd name="csY0" fmla="*/ 0 h 2015067"/>
              <a:gd name="csX1" fmla="*/ 10459149 w 10795000"/>
              <a:gd name="csY1" fmla="*/ 0 h 2015067"/>
              <a:gd name="csX2" fmla="*/ 10795000 w 10795000"/>
              <a:gd name="csY2" fmla="*/ 335851 h 2015067"/>
              <a:gd name="csX3" fmla="*/ 10795000 w 10795000"/>
              <a:gd name="csY3" fmla="*/ 1679216 h 2015067"/>
              <a:gd name="csX4" fmla="*/ 10459149 w 10795000"/>
              <a:gd name="csY4" fmla="*/ 2015067 h 2015067"/>
              <a:gd name="csX5" fmla="*/ 6396405 w 10795000"/>
              <a:gd name="csY5" fmla="*/ 2015067 h 2015067"/>
              <a:gd name="csX6" fmla="*/ 6364587 w 10795000"/>
              <a:gd name="csY6" fmla="*/ 1911563 h 2015067"/>
              <a:gd name="csX7" fmla="*/ 5397500 w 10795000"/>
              <a:gd name="csY7" fmla="*/ 1264261 h 2015067"/>
              <a:gd name="csX8" fmla="*/ 4430414 w 10795000"/>
              <a:gd name="csY8" fmla="*/ 1911563 h 2015067"/>
              <a:gd name="csX9" fmla="*/ 4398595 w 10795000"/>
              <a:gd name="csY9" fmla="*/ 2015067 h 2015067"/>
              <a:gd name="csX10" fmla="*/ 335851 w 10795000"/>
              <a:gd name="csY10" fmla="*/ 2015067 h 2015067"/>
              <a:gd name="csX11" fmla="*/ 0 w 10795000"/>
              <a:gd name="csY11" fmla="*/ 1679216 h 2015067"/>
              <a:gd name="csX12" fmla="*/ 0 w 10795000"/>
              <a:gd name="csY12" fmla="*/ 335851 h 2015067"/>
              <a:gd name="csX13" fmla="*/ 335851 w 10795000"/>
              <a:gd name="csY13" fmla="*/ 0 h 20150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0795000" h="2015067">
                <a:moveTo>
                  <a:pt x="335851" y="0"/>
                </a:moveTo>
                <a:lnTo>
                  <a:pt x="10459149" y="0"/>
                </a:lnTo>
                <a:cubicBezTo>
                  <a:pt x="10644634" y="0"/>
                  <a:pt x="10795000" y="150366"/>
                  <a:pt x="10795000" y="335851"/>
                </a:cubicBezTo>
                <a:lnTo>
                  <a:pt x="10795000" y="1679216"/>
                </a:lnTo>
                <a:cubicBezTo>
                  <a:pt x="10795000" y="1864701"/>
                  <a:pt x="10644634" y="2015067"/>
                  <a:pt x="10459149" y="2015067"/>
                </a:cubicBezTo>
                <a:lnTo>
                  <a:pt x="6396405" y="2015067"/>
                </a:lnTo>
                <a:lnTo>
                  <a:pt x="6364587" y="1911563"/>
                </a:lnTo>
                <a:cubicBezTo>
                  <a:pt x="6205254" y="1531171"/>
                  <a:pt x="5832245" y="1264261"/>
                  <a:pt x="5397500" y="1264261"/>
                </a:cubicBezTo>
                <a:cubicBezTo>
                  <a:pt x="4962755" y="1264261"/>
                  <a:pt x="4589746" y="1531171"/>
                  <a:pt x="4430414" y="1911563"/>
                </a:cubicBezTo>
                <a:lnTo>
                  <a:pt x="4398595" y="2015067"/>
                </a:lnTo>
                <a:lnTo>
                  <a:pt x="335851" y="2015067"/>
                </a:lnTo>
                <a:cubicBezTo>
                  <a:pt x="150366" y="2015067"/>
                  <a:pt x="0" y="1864701"/>
                  <a:pt x="0" y="1679216"/>
                </a:cubicBezTo>
                <a:lnTo>
                  <a:pt x="0" y="335851"/>
                </a:lnTo>
                <a:cubicBezTo>
                  <a:pt x="0" y="150366"/>
                  <a:pt x="150366" y="0"/>
                  <a:pt x="335851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64AD92E2-C44D-79E6-20B2-6086B4E6A7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9225" y="152220"/>
            <a:ext cx="93535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 Presentation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95E98DA8-69B4-BFDD-A7C3-B7D486EB6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9225" y="843131"/>
            <a:ext cx="93535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ISL DETECTION AND TRANSLATION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F6D7106-1245-7400-8E7E-FCBB366CC0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527681"/>
              </p:ext>
            </p:extLst>
          </p:nvPr>
        </p:nvGraphicFramePr>
        <p:xfrm>
          <a:off x="5833534" y="4293054"/>
          <a:ext cx="6096000" cy="2116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04251489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686135449"/>
                    </a:ext>
                  </a:extLst>
                </a:gridCol>
              </a:tblGrid>
              <a:tr h="423243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Registration no.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8818765"/>
                  </a:ext>
                </a:extLst>
              </a:tr>
              <a:tr h="423243">
                <a:tc>
                  <a:txBody>
                    <a:bodyPr/>
                    <a:lstStyle/>
                    <a:p>
                      <a:r>
                        <a:rPr lang="en-US" dirty="0"/>
                        <a:t>Mrinal Raj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2301020029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9132488"/>
                  </a:ext>
                </a:extLst>
              </a:tr>
              <a:tr h="423243">
                <a:tc>
                  <a:txBody>
                    <a:bodyPr/>
                    <a:lstStyle/>
                    <a:p>
                      <a:r>
                        <a:rPr lang="en-US" dirty="0"/>
                        <a:t>Rittika Ghosh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2301020038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7457442"/>
                  </a:ext>
                </a:extLst>
              </a:tr>
              <a:tr h="423243">
                <a:tc>
                  <a:txBody>
                    <a:bodyPr/>
                    <a:lstStyle/>
                    <a:p>
                      <a:r>
                        <a:rPr lang="en-US" dirty="0"/>
                        <a:t>Abhipsa Mohapatra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2301020484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731571"/>
                  </a:ext>
                </a:extLst>
              </a:tr>
              <a:tr h="423243">
                <a:tc>
                  <a:txBody>
                    <a:bodyPr/>
                    <a:lstStyle/>
                    <a:p>
                      <a:r>
                        <a:rPr lang="en-US" dirty="0"/>
                        <a:t>Pratyush Panigrahi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2301020548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341356"/>
                  </a:ext>
                </a:extLst>
              </a:tr>
            </a:tbl>
          </a:graphicData>
        </a:graphic>
      </p:graphicFrame>
      <p:sp>
        <p:nvSpPr>
          <p:cNvPr id="20" name="TextBox 8">
            <a:extLst>
              <a:ext uri="{FF2B5EF4-FFF2-40B4-BE49-F238E27FC236}">
                <a16:creationId xmlns:a16="http://schemas.microsoft.com/office/drawing/2014/main" id="{A23E5134-1603-2979-69D1-F10843EB2F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759" y="4673601"/>
            <a:ext cx="366077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pPr algn="ctr"/>
            <a:r>
              <a:rPr lang="en-US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Madhusmita Sahu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6052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rPr dirty="0"/>
              <a:t>Outline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rPr dirty="0"/>
              <a:t>Overview of topics covered in this 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rPr lang="en-US" sz="1400" b="1" dirty="0">
                <a:solidFill>
                  <a:srgbClr val="38BDF8"/>
                </a:solidFill>
              </a:rPr>
              <a:t>01. Introduction &amp; Motivation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rPr lang="en-US" dirty="0"/>
              <a:t>      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rPr lang="en-US" dirty="0"/>
              <a:t>      Background of ISL, problem statement, key challenges &amp; objectives</a:t>
            </a:r>
          </a:p>
          <a:p>
            <a:pPr>
              <a:spcBef>
                <a:spcPts val="1200"/>
              </a:spcBef>
              <a:defRPr sz="14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02. Literature Study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rPr dirty="0"/>
              <a:t>      Comparative survey of existing ISL models, methodologies, and limitations</a:t>
            </a:r>
          </a:p>
          <a:p>
            <a:pPr>
              <a:spcBef>
                <a:spcPts val="1200"/>
              </a:spcBef>
              <a:defRPr sz="14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03. Technical Details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rPr dirty="0"/>
              <a:t>      Data pipeline, 3D hand landmark extraction, landmark normalization, dual models (Dense NN + LSTM), prediction stabilization, and Windows SAPI TTS</a:t>
            </a:r>
          </a:p>
          <a:p>
            <a:pPr>
              <a:spcBef>
                <a:spcPts val="1200"/>
              </a:spcBef>
              <a:defRPr sz="14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04. Results &amp; Discussion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rPr dirty="0"/>
              <a:t>      Model performance evaluation, 99.75% static &amp; 100% dynamic accuracy, classification reports, and latency analysis</a:t>
            </a:r>
          </a:p>
          <a:p>
            <a:pPr>
              <a:spcBef>
                <a:spcPts val="1200"/>
              </a:spcBef>
              <a:defRPr sz="14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05. Conclusion &amp; Future Scope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rPr dirty="0"/>
              <a:t>      Summary of achievements, current constraints, and future expansion roadmap</a:t>
            </a:r>
          </a:p>
          <a:p>
            <a:pPr>
              <a:spcBef>
                <a:spcPts val="1200"/>
              </a:spcBef>
              <a:defRPr sz="14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06. References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rPr dirty="0"/>
              <a:t>      Academic citations and research literature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19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rPr dirty="0"/>
              <a:t>1. Introduction &amp; Motivation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rPr dirty="0"/>
              <a:t>Indian Sign Language (ISL) Recognition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1387" y="1371600"/>
            <a:ext cx="594360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Background &amp; Motivation</a:t>
            </a:r>
          </a:p>
          <a:p>
            <a:pPr>
              <a:spcBef>
                <a:spcPts val="200"/>
              </a:spcBef>
              <a:defRPr sz="1050">
                <a:solidFill>
                  <a:srgbClr val="E2E8F0"/>
                </a:solidFill>
                <a:latin typeface="Segoe UI"/>
              </a:defRPr>
            </a:pPr>
            <a:r>
              <a:rPr sz="1100" dirty="0"/>
              <a:t>• ~1.8 Million deaf individuals in India (Census 2011)</a:t>
            </a:r>
            <a:r>
              <a:rPr lang="en-US" sz="1100" dirty="0"/>
              <a:t> ~5 to 7 million.</a:t>
            </a:r>
            <a:br>
              <a:rPr sz="1100" dirty="0"/>
            </a:br>
            <a:r>
              <a:rPr sz="1100" dirty="0"/>
              <a:t>• ISL is a predominantly 2-handed sign language with distinct grammar</a:t>
            </a:r>
            <a:br>
              <a:rPr sz="1100" dirty="0"/>
            </a:br>
            <a:r>
              <a:rPr sz="1100" dirty="0"/>
              <a:t>• Severe shortage of human interpreters creates communication barriers</a:t>
            </a:r>
          </a:p>
          <a:p>
            <a:pPr>
              <a:spcBef>
                <a:spcPts val="1000"/>
              </a:spcBef>
              <a:defRPr sz="13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Problem Statement</a:t>
            </a:r>
          </a:p>
          <a:p>
            <a:pPr>
              <a:spcBef>
                <a:spcPts val="200"/>
              </a:spcBef>
              <a:defRPr sz="1050">
                <a:solidFill>
                  <a:srgbClr val="E2E8F0"/>
                </a:solidFill>
                <a:latin typeface="Segoe UI"/>
              </a:defRPr>
            </a:pPr>
            <a:r>
              <a:rPr sz="1100" dirty="0"/>
              <a:t>• Existing solutions require expensive depth cameras or sensor gloves</a:t>
            </a:r>
            <a:br>
              <a:rPr sz="1100" dirty="0"/>
            </a:br>
            <a:r>
              <a:rPr sz="1100" dirty="0"/>
              <a:t>• Need for a lightweight, software-only system operating via webcam</a:t>
            </a:r>
          </a:p>
          <a:p>
            <a:pPr>
              <a:spcBef>
                <a:spcPts val="1000"/>
              </a:spcBef>
              <a:defRPr sz="13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Core Objectives</a:t>
            </a:r>
          </a:p>
          <a:p>
            <a:pPr>
              <a:spcBef>
                <a:spcPts val="200"/>
              </a:spcBef>
              <a:defRPr sz="1050">
                <a:solidFill>
                  <a:srgbClr val="E2E8F0"/>
                </a:solidFill>
                <a:latin typeface="Segoe UI"/>
              </a:defRPr>
            </a:pPr>
            <a:r>
              <a:rPr sz="1100" dirty="0"/>
              <a:t>• </a:t>
            </a:r>
            <a:r>
              <a:rPr sz="1100" dirty="0" err="1"/>
              <a:t>MediaPipe</a:t>
            </a:r>
            <a:r>
              <a:rPr sz="1100" dirty="0"/>
              <a:t> 3D </a:t>
            </a:r>
            <a:r>
              <a:rPr sz="1100" dirty="0" err="1"/>
              <a:t>HandLandmarker</a:t>
            </a:r>
            <a:r>
              <a:rPr sz="1100" dirty="0"/>
              <a:t> feature extraction (126 features)</a:t>
            </a:r>
            <a:br>
              <a:rPr sz="1100" dirty="0"/>
            </a:br>
            <a:r>
              <a:rPr sz="1100" dirty="0"/>
              <a:t>• Dual model pipeline: Dense NN (Static) + LSTM (Dynamic)</a:t>
            </a:r>
            <a:br>
              <a:rPr sz="1100" dirty="0"/>
            </a:br>
            <a:r>
              <a:rPr sz="1100" dirty="0"/>
              <a:t>• Asynchronous Windows SAPI Text-to-Speech translation output</a:t>
            </a:r>
            <a:br>
              <a:rPr sz="1100" dirty="0"/>
            </a:br>
            <a:r>
              <a:rPr sz="1100" dirty="0"/>
              <a:t>• Responsive </a:t>
            </a:r>
            <a:r>
              <a:rPr sz="1100" dirty="0" err="1"/>
              <a:t>CustomTkinter</a:t>
            </a:r>
            <a:r>
              <a:rPr sz="1100" dirty="0"/>
              <a:t> desktop GUI</a:t>
            </a:r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124EB580-6A58-428F-D6D4-97F83306FDAB}"/>
              </a:ext>
            </a:extLst>
          </p:cNvPr>
          <p:cNvSpPr/>
          <p:nvPr/>
        </p:nvSpPr>
        <p:spPr>
          <a:xfrm>
            <a:off x="7797800" y="1879599"/>
            <a:ext cx="3242733" cy="3691467"/>
          </a:xfrm>
          <a:prstGeom prst="roundRect">
            <a:avLst>
              <a:gd name="adj" fmla="val 13101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9410" t="-35720" r="-69284" b="-43319"/>
            </a:stretch>
          </a:blip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2. Literature Study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Comparative summary of existing ISL recognition research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332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Sl. No.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Journal, Publisher &amp; Year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Title &amp; Author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Methodology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Findings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Limitations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621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Multimedia Tools &amp; Applications</a:t>
                      </a:r>
                    </a:p>
                    <a:p>
                      <a:pPr>
                        <a:defRPr sz="8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(Springer, 2024)</a:t>
                      </a:r>
                    </a:p>
                  </a:txBody>
                  <a:tcPr>
                    <a:solidFill>
                      <a:srgbClr val="1621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Automatic ISL Recognition using MediaPipe &amp; LSTM</a:t>
                      </a:r>
                    </a:p>
                    <a:p>
                      <a:pPr>
                        <a:defRPr sz="8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(Khartheesvar et al.)</a:t>
                      </a:r>
                    </a:p>
                  </a:txBody>
                  <a:tcPr>
                    <a:solidFill>
                      <a:srgbClr val="1621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MediaPipe Holistic + 2-layer LSTM sequence model</a:t>
                      </a:r>
                    </a:p>
                  </a:txBody>
                  <a:tcPr>
                    <a:solidFill>
                      <a:srgbClr val="1621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High accuracy on isolated dynamic ISL signs</a:t>
                      </a:r>
                    </a:p>
                  </a:txBody>
                  <a:tcPr>
                    <a:solidFill>
                      <a:srgbClr val="1621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High computational cost due to full holistic mesh extraction</a:t>
                      </a:r>
                    </a:p>
                  </a:txBody>
                  <a:tcPr>
                    <a:solidFill>
                      <a:srgbClr val="16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Electronics</a:t>
                      </a:r>
                    </a:p>
                    <a:p>
                      <a:pPr>
                        <a:defRPr sz="8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(MDPI, 2024)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Isolated ISL Recognition via Hybrid CNN-LSTM</a:t>
                      </a:r>
                    </a:p>
                    <a:p>
                      <a:pPr>
                        <a:defRPr sz="8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(Kumari &amp; Anand)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3D CNN feature extractor + Attention LSTM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Effective spatial-temporal frame weighting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High RAM &amp; processing overhead from raw RGB frames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621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Electronics</a:t>
                      </a:r>
                    </a:p>
                    <a:p>
                      <a:pPr>
                        <a:defRPr sz="8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(MDPI, 2022)</a:t>
                      </a:r>
                    </a:p>
                  </a:txBody>
                  <a:tcPr>
                    <a:solidFill>
                      <a:srgbClr val="1621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DeepSign: Sign Language Detection</a:t>
                      </a:r>
                    </a:p>
                    <a:p>
                      <a:pPr>
                        <a:defRPr sz="8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(Kothadiya et al.)</a:t>
                      </a:r>
                    </a:p>
                  </a:txBody>
                  <a:tcPr>
                    <a:solidFill>
                      <a:srgbClr val="1621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OpenPose keypoints + Dense Neural Network</a:t>
                      </a:r>
                    </a:p>
                  </a:txBody>
                  <a:tcPr>
                    <a:solidFill>
                      <a:srgbClr val="1621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Low parameter count for static poses</a:t>
                      </a:r>
                    </a:p>
                  </a:txBody>
                  <a:tcPr>
                    <a:solidFill>
                      <a:srgbClr val="1621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Fails under hand self-occlusion; poor dynamic gesture handling</a:t>
                      </a:r>
                    </a:p>
                  </a:txBody>
                  <a:tcPr>
                    <a:solidFill>
                      <a:srgbClr val="16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Information</a:t>
                      </a:r>
                    </a:p>
                    <a:p>
                      <a:pPr>
                        <a:defRPr sz="8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(MDPI, 2023)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LiST: Lightweight Framework for ISL</a:t>
                      </a:r>
                    </a:p>
                    <a:p>
                      <a:pPr>
                        <a:defRPr sz="8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(Al-Qurishi et al.)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Lightweight 2D CNN + GRU sequence decoder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Reduced model latency for mobile devices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Limited vocabulary; sensitive to lighting variations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621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Array</a:t>
                      </a:r>
                    </a:p>
                    <a:p>
                      <a:pPr>
                        <a:defRPr sz="8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(Elsevier, 2023)</a:t>
                      </a:r>
                    </a:p>
                  </a:txBody>
                  <a:tcPr>
                    <a:solidFill>
                      <a:srgbClr val="1621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ISL Recognition using SURF with SVM &amp; CNN</a:t>
                      </a:r>
                    </a:p>
                    <a:p>
                      <a:pPr>
                        <a:defRPr sz="8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(Sahoo et al.)</a:t>
                      </a:r>
                    </a:p>
                  </a:txBody>
                  <a:tcPr>
                    <a:solidFill>
                      <a:srgbClr val="1621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SURF descriptor + hybrid SVM &amp; CNN classifier</a:t>
                      </a:r>
                    </a:p>
                  </a:txBody>
                  <a:tcPr>
                    <a:solidFill>
                      <a:srgbClr val="1621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Robust static hand posture classification</a:t>
                      </a:r>
                    </a:p>
                  </a:txBody>
                  <a:tcPr>
                    <a:solidFill>
                      <a:srgbClr val="1621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Segmentation fails under varying skin tones or shadows</a:t>
                      </a:r>
                    </a:p>
                  </a:txBody>
                  <a:tcPr>
                    <a:solidFill>
                      <a:srgbClr val="16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3. Technical Details — Feature Pipeline &amp; Normalization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System Architecture (Part 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0133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rPr dirty="0" err="1"/>
              <a:t>MediaPipe</a:t>
            </a:r>
            <a:r>
              <a:rPr dirty="0"/>
              <a:t> 3D Hand Landmarks</a:t>
            </a:r>
          </a:p>
          <a:p>
            <a:pPr>
              <a:spcBef>
                <a:spcPts val="200"/>
              </a:spcBef>
              <a:defRPr sz="1050">
                <a:solidFill>
                  <a:srgbClr val="E2E8F0"/>
                </a:solidFill>
                <a:latin typeface="Segoe UI"/>
              </a:defRPr>
            </a:pPr>
            <a:r>
              <a:rPr sz="1100" dirty="0"/>
              <a:t>• 21 3D landmarks (x, y, z) extracted per hand</a:t>
            </a:r>
            <a:br>
              <a:rPr sz="1100" dirty="0"/>
            </a:br>
            <a:r>
              <a:rPr sz="1100" dirty="0"/>
              <a:t>• 2 hands x 21 landmarks x 3 coordinates = 126 features/frame</a:t>
            </a:r>
            <a:br>
              <a:rPr sz="1100" dirty="0"/>
            </a:br>
            <a:r>
              <a:rPr sz="1100" dirty="0"/>
              <a:t>• Single-hand detections are zero-padded to maintain 126-D shape</a:t>
            </a:r>
          </a:p>
          <a:p>
            <a:pPr>
              <a:spcBef>
                <a:spcPts val="1000"/>
              </a:spcBef>
              <a:defRPr sz="13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Wrist-Relative Normalization</a:t>
            </a:r>
          </a:p>
          <a:p>
            <a:pPr>
              <a:spcBef>
                <a:spcPts val="200"/>
              </a:spcBef>
              <a:defRPr sz="1050">
                <a:solidFill>
                  <a:srgbClr val="E2E8F0"/>
                </a:solidFill>
                <a:latin typeface="Segoe UI"/>
              </a:defRPr>
            </a:pPr>
            <a:r>
              <a:rPr sz="1100" dirty="0"/>
              <a:t>• Translation Invariance: Subtract wrist position (L₀) from all 21 points</a:t>
            </a:r>
            <a:br>
              <a:rPr sz="1100" dirty="0"/>
            </a:br>
            <a:r>
              <a:rPr sz="1100" dirty="0"/>
              <a:t>• Scale Invariance: Divide by max Euclidean distance from wrist</a:t>
            </a:r>
            <a:br>
              <a:rPr sz="1100" dirty="0"/>
            </a:br>
            <a:r>
              <a:rPr sz="1100" dirty="0"/>
              <a:t>• Math: L̂ᵢ = (Lᵢ - L₀) / maxⱼ ||Lⱼ - L₀||</a:t>
            </a:r>
          </a:p>
          <a:p>
            <a:pPr>
              <a:spcBef>
                <a:spcPts val="1000"/>
              </a:spcBef>
              <a:defRPr sz="13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Data Collection &amp; Augmentation</a:t>
            </a:r>
          </a:p>
          <a:p>
            <a:pPr>
              <a:spcBef>
                <a:spcPts val="200"/>
              </a:spcBef>
              <a:defRPr sz="1050">
                <a:solidFill>
                  <a:srgbClr val="E2E8F0"/>
                </a:solidFill>
                <a:latin typeface="Segoe UI"/>
              </a:defRPr>
            </a:pPr>
            <a:r>
              <a:rPr sz="1100" dirty="0"/>
              <a:t>• Static dataset: 500 frames collected per sign class</a:t>
            </a:r>
            <a:br>
              <a:rPr sz="1100" dirty="0"/>
            </a:br>
            <a:r>
              <a:rPr sz="1100" dirty="0"/>
              <a:t>• Dynamic dataset: 50 sequences x 30 frames per sign class (~1 sec)</a:t>
            </a:r>
            <a:br>
              <a:rPr sz="1100" dirty="0"/>
            </a:br>
            <a:r>
              <a:rPr sz="1100" dirty="0"/>
              <a:t>• 3x Data Augmentation: Gaussian noise (σ=0.01), scaling, translation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24134" y="1463041"/>
            <a:ext cx="5080000" cy="4754880"/>
          </a:xfrm>
          <a:prstGeom prst="roundRect">
            <a:avLst>
              <a:gd name="adj" fmla="val 10382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1280D1-FCB9-0209-19FA-0834443098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7601"/>
          <a:stretch>
            <a:fillRect/>
          </a:stretch>
        </p:blipFill>
        <p:spPr>
          <a:xfrm>
            <a:off x="7730067" y="3735493"/>
            <a:ext cx="1159934" cy="15650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C415E-F90C-1E84-D260-3ECF5600B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BBC35F-7EA5-71A3-0808-2C6D7FB1347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BC2305-E79B-A70B-D45F-6AED5B242136}"/>
              </a:ext>
            </a:extLst>
          </p:cNvPr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3. Technical Details — Feature Pipeline &amp; Normalization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System Architecture (Part 1)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55F51D3-B0D9-8493-BCF8-8BC53B606C78}"/>
              </a:ext>
            </a:extLst>
          </p:cNvPr>
          <p:cNvSpPr/>
          <p:nvPr/>
        </p:nvSpPr>
        <p:spPr>
          <a:xfrm>
            <a:off x="499534" y="1176867"/>
            <a:ext cx="11404600" cy="5315373"/>
          </a:xfrm>
          <a:prstGeom prst="roundRect">
            <a:avLst>
              <a:gd name="adj" fmla="val 10382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F31509-6BE2-5ACA-020B-DAF336026C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601"/>
          <a:stretch>
            <a:fillRect/>
          </a:stretch>
        </p:blipFill>
        <p:spPr>
          <a:xfrm>
            <a:off x="2633133" y="3667760"/>
            <a:ext cx="2201333" cy="1810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450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3. Technical Details — Dual Model Architectures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System Architecture (Part 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2853" y="1312333"/>
            <a:ext cx="536448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Why Dual Architectures?</a:t>
            </a:r>
          </a:p>
          <a:p>
            <a:pPr>
              <a:spcBef>
                <a:spcPts val="200"/>
              </a:spcBef>
              <a:defRPr sz="1050">
                <a:solidFill>
                  <a:srgbClr val="E2E8F0"/>
                </a:solidFill>
                <a:latin typeface="Segoe UI"/>
              </a:defRPr>
            </a:pPr>
            <a:r>
              <a:rPr sz="1100" dirty="0"/>
              <a:t>• Static Signs (Namaste): Classified from single frames</a:t>
            </a:r>
            <a:br>
              <a:rPr sz="1100" dirty="0"/>
            </a:br>
            <a:r>
              <a:rPr sz="1100" dirty="0"/>
              <a:t>• Dynamic Signs (Hello, Thank You, Bye</a:t>
            </a:r>
            <a:r>
              <a:rPr lang="en-US" sz="1100" dirty="0"/>
              <a:t>, Sorry</a:t>
            </a:r>
            <a:r>
              <a:rPr sz="1100" dirty="0"/>
              <a:t>): Classified over temporal motion</a:t>
            </a:r>
          </a:p>
          <a:p>
            <a:pPr>
              <a:spcBef>
                <a:spcPts val="1000"/>
              </a:spcBef>
              <a:defRPr sz="13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Static Model — Dense Neural Network</a:t>
            </a:r>
          </a:p>
          <a:p>
            <a:pPr>
              <a:spcBef>
                <a:spcPts val="200"/>
              </a:spcBef>
              <a:defRPr sz="1050">
                <a:solidFill>
                  <a:srgbClr val="E2E8F0"/>
                </a:solidFill>
                <a:latin typeface="Segoe UI"/>
              </a:defRPr>
            </a:pPr>
            <a:r>
              <a:rPr sz="1100" dirty="0"/>
              <a:t>• Input: (126,) normalized feature vector</a:t>
            </a:r>
            <a:br>
              <a:rPr sz="1100" dirty="0"/>
            </a:br>
            <a:r>
              <a:rPr sz="1100" dirty="0"/>
              <a:t>• Architecture: Dense(256) → </a:t>
            </a:r>
            <a:r>
              <a:rPr sz="1100" dirty="0" err="1"/>
              <a:t>BatchNorm</a:t>
            </a:r>
            <a:r>
              <a:rPr sz="1100" dirty="0"/>
              <a:t> → Dropout(0.3) → Dense(128) → </a:t>
            </a:r>
            <a:r>
              <a:rPr sz="1100" dirty="0" err="1"/>
              <a:t>BatchNorm</a:t>
            </a:r>
            <a:r>
              <a:rPr sz="1100" dirty="0"/>
              <a:t> → Dropout(0.3) → Dense(64) → </a:t>
            </a:r>
            <a:r>
              <a:rPr sz="1100" dirty="0" err="1"/>
              <a:t>Softmax</a:t>
            </a:r>
            <a:r>
              <a:rPr sz="1100" dirty="0"/>
              <a:t>(N)</a:t>
            </a:r>
            <a:br>
              <a:rPr sz="1100" dirty="0"/>
            </a:br>
            <a:r>
              <a:rPr sz="1100" dirty="0"/>
              <a:t>• Size: ~75,781 parameters (296 KB)</a:t>
            </a:r>
          </a:p>
          <a:p>
            <a:pPr>
              <a:spcBef>
                <a:spcPts val="1000"/>
              </a:spcBef>
              <a:defRPr sz="13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Dynamic Model — LSTM Network</a:t>
            </a:r>
          </a:p>
          <a:p>
            <a:pPr>
              <a:spcBef>
                <a:spcPts val="200"/>
              </a:spcBef>
              <a:defRPr sz="1050">
                <a:solidFill>
                  <a:srgbClr val="E2E8F0"/>
                </a:solidFill>
                <a:latin typeface="Segoe UI"/>
              </a:defRPr>
            </a:pPr>
            <a:r>
              <a:rPr sz="1100" dirty="0"/>
              <a:t>• Input: (30, 126) sequence over 30 consecutive frames</a:t>
            </a:r>
            <a:br>
              <a:rPr sz="1100" dirty="0"/>
            </a:br>
            <a:r>
              <a:rPr sz="1100" dirty="0"/>
              <a:t>• Architecture: LSTM(128, </a:t>
            </a:r>
            <a:r>
              <a:rPr sz="1100" dirty="0" err="1"/>
              <a:t>return_seq</a:t>
            </a:r>
            <a:r>
              <a:rPr sz="1100" dirty="0"/>
              <a:t>=True) → Dropout(0.3) → LSTM(64) → Dropout(0.3) → Dense(64) → Dense(32) → </a:t>
            </a:r>
            <a:r>
              <a:rPr sz="1100" dirty="0" err="1"/>
              <a:t>Softmax</a:t>
            </a:r>
            <a:r>
              <a:rPr sz="1100" dirty="0"/>
              <a:t>(N)</a:t>
            </a:r>
            <a:br>
              <a:rPr sz="1100" dirty="0"/>
            </a:br>
            <a:r>
              <a:rPr sz="1100" dirty="0"/>
              <a:t>• Captures temporal velocity and direction of hand motion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696" y="1312333"/>
            <a:ext cx="5703451" cy="5029200"/>
          </a:xfrm>
          <a:prstGeom prst="roundRect">
            <a:avLst>
              <a:gd name="adj" fmla="val 9933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6052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rPr dirty="0"/>
              <a:t>3. Technical Details — Real-Time Inference &amp; TTS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rPr dirty="0"/>
              <a:t>System Architecture (Part 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5186" y="1371600"/>
            <a:ext cx="544068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Prediction Stabilization Engine</a:t>
            </a:r>
          </a:p>
          <a:p>
            <a:pPr>
              <a:spcBef>
                <a:spcPts val="200"/>
              </a:spcBef>
              <a:defRPr sz="1050">
                <a:solidFill>
                  <a:srgbClr val="E2E8F0"/>
                </a:solidFill>
                <a:latin typeface="Segoe UI"/>
              </a:defRPr>
            </a:pPr>
            <a:r>
              <a:rPr sz="1100" dirty="0"/>
              <a:t>• 5-Frame Rolling Buffer: Requires identical predictions over 5 frames</a:t>
            </a:r>
            <a:br>
              <a:rPr sz="1100" dirty="0"/>
            </a:br>
            <a:r>
              <a:rPr sz="1100" dirty="0"/>
              <a:t>• Confidence Threshold: Confirms sign only if confidence &gt; 0.6 / 0.7</a:t>
            </a:r>
            <a:br>
              <a:rPr sz="1100" dirty="0"/>
            </a:br>
            <a:r>
              <a:rPr sz="1100" dirty="0"/>
              <a:t>• Prevents flickering during hand transition movements</a:t>
            </a:r>
          </a:p>
          <a:p>
            <a:pPr>
              <a:spcBef>
                <a:spcPts val="1000"/>
              </a:spcBef>
              <a:defRPr sz="13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Asynchronous Windows SAPI Speech</a:t>
            </a:r>
          </a:p>
          <a:p>
            <a:pPr>
              <a:spcBef>
                <a:spcPts val="200"/>
              </a:spcBef>
              <a:defRPr sz="1050">
                <a:solidFill>
                  <a:srgbClr val="E2E8F0"/>
                </a:solidFill>
                <a:latin typeface="Segoe UI"/>
              </a:defRPr>
            </a:pPr>
            <a:r>
              <a:rPr sz="1100" dirty="0"/>
              <a:t>• Bypasses pyttsx3 freezing by using Windows native SAPI (</a:t>
            </a:r>
            <a:r>
              <a:rPr sz="1100" dirty="0" err="1"/>
              <a:t>SpVoice</a:t>
            </a:r>
            <a:r>
              <a:rPr sz="1100" dirty="0"/>
              <a:t>)</a:t>
            </a:r>
            <a:br>
              <a:rPr sz="1100" dirty="0"/>
            </a:br>
            <a:r>
              <a:rPr sz="1100" dirty="0"/>
              <a:t>• Uses </a:t>
            </a:r>
            <a:r>
              <a:rPr sz="1100" dirty="0" err="1"/>
              <a:t>SVSFlagsAsync</a:t>
            </a:r>
            <a:r>
              <a:rPr sz="1100" dirty="0"/>
              <a:t> for non-blocking voice output during video capture</a:t>
            </a:r>
            <a:br>
              <a:rPr sz="1100" dirty="0"/>
            </a:br>
            <a:r>
              <a:rPr sz="1100" dirty="0"/>
              <a:t>• Cooldown period of 1.0s prevents repetitive word playback</a:t>
            </a:r>
          </a:p>
          <a:p>
            <a:pPr>
              <a:spcBef>
                <a:spcPts val="1000"/>
              </a:spcBef>
              <a:defRPr sz="1300" b="1">
                <a:solidFill>
                  <a:srgbClr val="38BDF8"/>
                </a:solidFill>
                <a:latin typeface="Segoe UI"/>
              </a:defRPr>
            </a:pPr>
            <a:r>
              <a:rPr dirty="0" err="1"/>
              <a:t>CustomTkinter</a:t>
            </a:r>
            <a:r>
              <a:rPr dirty="0"/>
              <a:t> Desktop Application</a:t>
            </a:r>
          </a:p>
          <a:p>
            <a:pPr>
              <a:spcBef>
                <a:spcPts val="200"/>
              </a:spcBef>
              <a:defRPr sz="1050">
                <a:solidFill>
                  <a:srgbClr val="E2E8F0"/>
                </a:solidFill>
                <a:latin typeface="Segoe UI"/>
              </a:defRPr>
            </a:pPr>
            <a:r>
              <a:rPr sz="1100" dirty="0"/>
              <a:t>• Threaded architecture: Background thread handles camera &amp; inference</a:t>
            </a:r>
            <a:br>
              <a:rPr sz="1100" dirty="0"/>
            </a:br>
            <a:r>
              <a:rPr sz="1100" dirty="0"/>
              <a:t>• Main thread renders </a:t>
            </a:r>
            <a:r>
              <a:rPr sz="1100" dirty="0" err="1"/>
              <a:t>CustomTkinter</a:t>
            </a:r>
            <a:r>
              <a:rPr sz="1100" dirty="0"/>
              <a:t> GUI smoothly at ~30 FPS</a:t>
            </a:r>
            <a:br>
              <a:rPr sz="1100" dirty="0"/>
            </a:br>
            <a:r>
              <a:rPr sz="1100" dirty="0"/>
              <a:t>• Native controls for sentence clearing, mode toggle, volume &amp; rate sliders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99107" y="1286933"/>
            <a:ext cx="5284893" cy="4846320"/>
          </a:xfrm>
          <a:prstGeom prst="roundRect">
            <a:avLst>
              <a:gd name="adj" fmla="val 12577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4. Results &amp; Discussion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Model performance, accuracy, and real-time latency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5187" y="1371600"/>
            <a:ext cx="5753946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Experimental Performance Summary</a:t>
            </a:r>
          </a:p>
          <a:p>
            <a:pPr algn="just">
              <a:spcBef>
                <a:spcPts val="200"/>
              </a:spcBef>
              <a:defRPr sz="1050">
                <a:solidFill>
                  <a:srgbClr val="E2E8F0"/>
                </a:solidFill>
                <a:latin typeface="Segoe UI"/>
              </a:defRPr>
            </a:pPr>
            <a:r>
              <a:rPr sz="1100" dirty="0"/>
              <a:t>• Static Model (Dense NN): 99.75% Test Accuracy (Early stopped at epoch 6)</a:t>
            </a:r>
            <a:br>
              <a:rPr sz="1100" dirty="0"/>
            </a:br>
            <a:r>
              <a:rPr sz="1100" dirty="0"/>
              <a:t>• Dynamic Model (LSTM): 100.00% Test Accuracy (Best weights at epoch 93)</a:t>
            </a:r>
            <a:br>
              <a:rPr sz="1100" dirty="0"/>
            </a:br>
            <a:r>
              <a:rPr sz="1100" dirty="0"/>
              <a:t>• Inference Latency: ~3ms per frame (Static), ~12ms per sequence (LSTM)</a:t>
            </a:r>
          </a:p>
          <a:p>
            <a:pPr>
              <a:spcBef>
                <a:spcPts val="1000"/>
              </a:spcBef>
              <a:defRPr sz="13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Classification Report (Precision / Recall / F1)</a:t>
            </a:r>
          </a:p>
          <a:p>
            <a:pPr>
              <a:spcBef>
                <a:spcPts val="200"/>
              </a:spcBef>
              <a:defRPr sz="1050">
                <a:solidFill>
                  <a:srgbClr val="E2E8F0"/>
                </a:solidFill>
                <a:latin typeface="Segoe UI"/>
              </a:defRPr>
            </a:pPr>
            <a:r>
              <a:rPr sz="1100" dirty="0"/>
              <a:t>• Hello: Precision 1.00 | Recall 1.00 | F1-Score 1.00</a:t>
            </a:r>
            <a:br>
              <a:rPr sz="1100" dirty="0"/>
            </a:br>
            <a:r>
              <a:rPr sz="1100" dirty="0"/>
              <a:t>• Namaste: Precision 1.00 | Recall 1.00 | F1-Score 1.00</a:t>
            </a:r>
            <a:br>
              <a:rPr sz="1100" dirty="0"/>
            </a:br>
            <a:r>
              <a:rPr sz="1100" dirty="0"/>
              <a:t>• Bye: Precision 1.00 | Recall 1.00 | F1-Score 1.00</a:t>
            </a:r>
            <a:br>
              <a:rPr sz="1100" dirty="0"/>
            </a:br>
            <a:r>
              <a:rPr sz="1100" dirty="0"/>
              <a:t>• Thank You: Precision 1.00 | Recall 1.00 | F1-Score 1.00</a:t>
            </a:r>
            <a:br>
              <a:rPr sz="1100" dirty="0"/>
            </a:br>
            <a:r>
              <a:rPr sz="1100" dirty="0"/>
              <a:t>• Sorry: Precision 1.00 | Recall 1.00 | F1-Score 1.00</a:t>
            </a:r>
          </a:p>
          <a:p>
            <a:pPr>
              <a:spcBef>
                <a:spcPts val="1000"/>
              </a:spcBef>
              <a:defRPr sz="13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Key Discussion Insights</a:t>
            </a:r>
          </a:p>
          <a:p>
            <a:pPr>
              <a:spcBef>
                <a:spcPts val="200"/>
              </a:spcBef>
              <a:defRPr sz="1050">
                <a:solidFill>
                  <a:srgbClr val="E2E8F0"/>
                </a:solidFill>
                <a:latin typeface="Segoe UI"/>
              </a:defRPr>
            </a:pPr>
            <a:r>
              <a:rPr sz="1100" dirty="0"/>
              <a:t>• Wrist normalization successfully eliminated distance/scale variance</a:t>
            </a:r>
            <a:br>
              <a:rPr sz="1100" dirty="0"/>
            </a:br>
            <a:r>
              <a:rPr sz="1100" dirty="0"/>
              <a:t>• Zero false-positive triggers observed in dynamic stability buffer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6774" y="753533"/>
            <a:ext cx="4218093" cy="2734734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endParaRPr dirty="0"/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DA7D1E87-9D40-8369-6DD1-72ADFDAD101B}"/>
              </a:ext>
            </a:extLst>
          </p:cNvPr>
          <p:cNvSpPr/>
          <p:nvPr/>
        </p:nvSpPr>
        <p:spPr>
          <a:xfrm>
            <a:off x="7538722" y="3627120"/>
            <a:ext cx="4218092" cy="2734734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6052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rPr dirty="0"/>
              <a:t>5. Conclusion &amp; Future Scope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rPr dirty="0"/>
              <a:t>Project contributions and future development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7757" y="1371600"/>
            <a:ext cx="5508109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Project Summary &amp; Contributions</a:t>
            </a:r>
          </a:p>
          <a:p>
            <a:pPr>
              <a:spcBef>
                <a:spcPts val="200"/>
              </a:spcBef>
              <a:defRPr sz="1050">
                <a:solidFill>
                  <a:srgbClr val="E2E8F0"/>
                </a:solidFill>
                <a:latin typeface="Segoe UI"/>
              </a:defRPr>
            </a:pPr>
            <a:r>
              <a:rPr sz="1100" dirty="0"/>
              <a:t>• Built a complete, real-time vision-based ISL translation system</a:t>
            </a:r>
            <a:br>
              <a:rPr sz="1100" dirty="0"/>
            </a:br>
            <a:r>
              <a:rPr sz="1100" dirty="0"/>
              <a:t>• Achieved 99.75% static accuracy and 100.00% dynamic sequence accuracy</a:t>
            </a:r>
            <a:br>
              <a:rPr sz="1100" dirty="0"/>
            </a:br>
            <a:r>
              <a:rPr sz="1100" dirty="0"/>
              <a:t>• Lightweight 126-D feature pipeline runs smoothly on standard CPUs</a:t>
            </a:r>
            <a:br>
              <a:rPr sz="1100" dirty="0"/>
            </a:br>
            <a:r>
              <a:rPr sz="1100" dirty="0"/>
              <a:t>• Delivered a responsive </a:t>
            </a:r>
            <a:r>
              <a:rPr sz="1100" dirty="0" err="1"/>
              <a:t>CustomTkinter</a:t>
            </a:r>
            <a:r>
              <a:rPr sz="1100" dirty="0"/>
              <a:t> GUI with Windows SAPI TTS integration</a:t>
            </a:r>
          </a:p>
          <a:p>
            <a:pPr>
              <a:spcBef>
                <a:spcPts val="1000"/>
              </a:spcBef>
              <a:defRPr sz="13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Current Limitations</a:t>
            </a:r>
          </a:p>
          <a:p>
            <a:pPr>
              <a:spcBef>
                <a:spcPts val="200"/>
              </a:spcBef>
              <a:defRPr sz="1050">
                <a:solidFill>
                  <a:srgbClr val="E2E8F0"/>
                </a:solidFill>
                <a:latin typeface="Segoe UI"/>
              </a:defRPr>
            </a:pPr>
            <a:r>
              <a:rPr sz="1100" dirty="0"/>
              <a:t>• Vocabulary currently covers 5 core dynamic/static phrases</a:t>
            </a:r>
            <a:br>
              <a:rPr sz="1100" dirty="0"/>
            </a:br>
            <a:r>
              <a:rPr sz="1100" dirty="0"/>
              <a:t>• Requires visible hands in webcam view without heavy motion blur</a:t>
            </a:r>
          </a:p>
          <a:p>
            <a:pPr>
              <a:spcBef>
                <a:spcPts val="1000"/>
              </a:spcBef>
              <a:defRPr sz="13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Future Expansion Roadmap</a:t>
            </a:r>
          </a:p>
          <a:p>
            <a:pPr>
              <a:spcBef>
                <a:spcPts val="200"/>
              </a:spcBef>
              <a:defRPr sz="1050">
                <a:solidFill>
                  <a:srgbClr val="E2E8F0"/>
                </a:solidFill>
                <a:latin typeface="Segoe UI"/>
              </a:defRPr>
            </a:pPr>
            <a:r>
              <a:rPr sz="1100" dirty="0"/>
              <a:t>1. Vocabulary Expansion: Extend to full ISL Alphabets (A-Z) &amp; Numbers (0-9)</a:t>
            </a:r>
            <a:br>
              <a:rPr sz="1100" dirty="0"/>
            </a:br>
            <a:r>
              <a:rPr sz="1100" dirty="0"/>
              <a:t>2. Continuous Sign Recognition: Integrate Connectionist Temporal Classification (CTC)</a:t>
            </a:r>
            <a:br>
              <a:rPr sz="1100" dirty="0"/>
            </a:br>
            <a:r>
              <a:rPr sz="1100" dirty="0"/>
              <a:t>3. NLP Translation Layer: Add Transformer for ISL gloss to English grammar translation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92333" y="1371600"/>
            <a:ext cx="5431909" cy="4846320"/>
          </a:xfrm>
          <a:prstGeom prst="roundRect">
            <a:avLst>
              <a:gd name="adj" fmla="val 13173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672" y="365760"/>
            <a:ext cx="10728655" cy="6052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rPr dirty="0"/>
              <a:t>6. References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rPr dirty="0"/>
              <a:t>Academic research publications and literature citations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just">
              <a:defRPr sz="1100">
                <a:solidFill>
                  <a:srgbClr val="E2E8F0"/>
                </a:solidFill>
                <a:latin typeface="Segoe UI"/>
              </a:defRPr>
            </a:pPr>
            <a:r>
              <a:rPr sz="1100" dirty="0"/>
              <a:t>1. </a:t>
            </a:r>
            <a:r>
              <a:rPr sz="1100" dirty="0" err="1"/>
              <a:t>Khartheesvar</a:t>
            </a:r>
            <a:r>
              <a:rPr sz="1100" dirty="0"/>
              <a:t>, G., et al. (2024). "Automatic Indian Sign Language Recognition using </a:t>
            </a:r>
            <a:r>
              <a:rPr sz="1100" dirty="0" err="1"/>
              <a:t>MediaPipe</a:t>
            </a:r>
            <a:r>
              <a:rPr sz="1100" dirty="0"/>
              <a:t> Holistic and LSTM Network". Multimedia Tools and</a:t>
            </a:r>
            <a:r>
              <a:rPr lang="en-US" sz="1100" dirty="0"/>
              <a:t> </a:t>
            </a:r>
            <a:r>
              <a:rPr sz="1100" dirty="0"/>
              <a:t>Applications, Springer (SCI). DOI: 10.1007/s11042-023-17361-y</a:t>
            </a:r>
          </a:p>
          <a:p>
            <a:pPr algn="just">
              <a:spcBef>
                <a:spcPts val="8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rPr sz="1100" dirty="0"/>
              <a:t>2. Al-</a:t>
            </a:r>
            <a:r>
              <a:rPr sz="1100" dirty="0" err="1"/>
              <a:t>Qurishi</a:t>
            </a:r>
            <a:r>
              <a:rPr sz="1100" dirty="0"/>
              <a:t>, M., et al. (2023). "</a:t>
            </a:r>
            <a:r>
              <a:rPr sz="1100" dirty="0" err="1"/>
              <a:t>LiST</a:t>
            </a:r>
            <a:r>
              <a:rPr sz="1100" dirty="0"/>
              <a:t>: A Lightweight Framework for Continuous ISL Translation". Information, MDPI (Scopus). DOI: 10.3390/info14020079</a:t>
            </a:r>
          </a:p>
          <a:p>
            <a:pPr algn="just">
              <a:spcBef>
                <a:spcPts val="8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rPr sz="1100" dirty="0"/>
              <a:t>3. Kumari, D., &amp; Anand, R. S. (2024). "Isolated Video-Based Sign Language Recognition Using Hybrid CNN-LSTM with Attention". Electronics, MDPI (SCI). DOI: 10.3390/electronics13071229</a:t>
            </a:r>
          </a:p>
          <a:p>
            <a:pPr algn="just">
              <a:spcBef>
                <a:spcPts val="8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rPr sz="1100" dirty="0"/>
              <a:t>4. </a:t>
            </a:r>
            <a:r>
              <a:rPr sz="1100" dirty="0" err="1"/>
              <a:t>Kothadiya</a:t>
            </a:r>
            <a:r>
              <a:rPr sz="1100" dirty="0"/>
              <a:t>, D., et al. (2022). "</a:t>
            </a:r>
            <a:r>
              <a:rPr sz="1100" dirty="0" err="1"/>
              <a:t>DeepSign</a:t>
            </a:r>
            <a:r>
              <a:rPr sz="1100" dirty="0"/>
              <a:t>: Sign Language Detection and Recognition Using Deep Learning". Electronics, MDPI (SCI). DOI: 10.3390/electronics11111780</a:t>
            </a:r>
          </a:p>
          <a:p>
            <a:pPr algn="just">
              <a:spcBef>
                <a:spcPts val="8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rPr sz="1100" dirty="0"/>
              <a:t>5. IEEE Access. (2025). "Real-Time Sign Language-to-Speech Translation with AI-Powered Wearable Technology". IEEE Access, (SCI). DOI: 10.1109/ACCESS.2025.3602794</a:t>
            </a:r>
          </a:p>
          <a:p>
            <a:pPr algn="just">
              <a:spcBef>
                <a:spcPts val="8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rPr sz="1100" dirty="0"/>
              <a:t>6. JSIR. (2022). "Real-time Static and Dynamic Sign Language Recognition using Deep Learning". Journal of Scientific and Industrial Research, (SCI). DOI: 10.56042/jsir.v81i11.60865</a:t>
            </a:r>
          </a:p>
          <a:p>
            <a:pPr algn="just">
              <a:spcBef>
                <a:spcPts val="8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rPr sz="1100" dirty="0"/>
              <a:t>7. IEEE </a:t>
            </a:r>
            <a:r>
              <a:rPr sz="1100" dirty="0" err="1"/>
              <a:t>MysuruCon</a:t>
            </a:r>
            <a:r>
              <a:rPr sz="1100" dirty="0"/>
              <a:t>. (2021). "Evaluation of Machine Learning Models for Real-Time Sign Recognition". IEEE </a:t>
            </a:r>
            <a:r>
              <a:rPr sz="1100" dirty="0" err="1"/>
              <a:t>MysuruCon</a:t>
            </a:r>
            <a:r>
              <a:rPr sz="1100" dirty="0"/>
              <a:t> 2021. DOI: 10.1109/MysuruCon52639.2021.9641518</a:t>
            </a:r>
          </a:p>
          <a:p>
            <a:pPr algn="just">
              <a:spcBef>
                <a:spcPts val="8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rPr sz="1100" dirty="0"/>
              <a:t>8. Sahoo, S., et al. (2023). "Indian Sign Language Recognition Using SURF with SVM and CNN". Array, Elsevier (Scopus). DOI: 10.1016/j.array.2023.100257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</TotalTime>
  <Words>1574</Words>
  <Application>Microsoft Office PowerPoint</Application>
  <PresentationFormat>Widescreen</PresentationFormat>
  <Paragraphs>138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Pratyush Panigrahi</cp:lastModifiedBy>
  <cp:revision>4</cp:revision>
  <dcterms:created xsi:type="dcterms:W3CDTF">2013-01-27T09:14:16Z</dcterms:created>
  <dcterms:modified xsi:type="dcterms:W3CDTF">2026-07-31T20:09:37Z</dcterms:modified>
  <cp:category/>
</cp:coreProperties>
</file>